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1F67"/>
    <a:srgbClr val="F5CFFC"/>
    <a:srgbClr val="FFFFFF"/>
    <a:srgbClr val="E4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>
      <p:cViewPr varScale="1">
        <p:scale>
          <a:sx n="68" d="100"/>
          <a:sy n="68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9B36B-3A23-4589-8171-C58EFB308566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8FF28-D742-4888-BF66-6FA1A7470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78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8FF28-D742-4888-BF66-6FA1A7470BC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252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8FF28-D742-4888-BF66-6FA1A7470BC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985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31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68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61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98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1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67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78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8699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553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95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98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536749B-FB02-4260-A472-BFC62B3E1265}" type="datetimeFigureOut">
              <a:rPr lang="en-IN" smtClean="0"/>
              <a:t>15/Mar/2025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7AAFD5-7537-4F29-B0A1-D89A4EC65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56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95E23-7F47-4041-ACEE-6468298D70C6}"/>
              </a:ext>
            </a:extLst>
          </p:cNvPr>
          <p:cNvSpPr txBox="1"/>
          <p:nvPr/>
        </p:nvSpPr>
        <p:spPr>
          <a:xfrm flipH="1">
            <a:off x="335130" y="1863932"/>
            <a:ext cx="54096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002060"/>
                </a:solidFill>
                <a:latin typeface="Arial Black" panose="020B0A04020102020204" pitchFamily="34" charset="0"/>
              </a:rPr>
              <a:t>Consultancy</a:t>
            </a:r>
            <a:endParaRPr lang="en-IN" sz="60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022A-B6FC-4327-A944-D5545634B837}"/>
              </a:ext>
            </a:extLst>
          </p:cNvPr>
          <p:cNvSpPr txBox="1"/>
          <p:nvPr/>
        </p:nvSpPr>
        <p:spPr>
          <a:xfrm>
            <a:off x="1224105" y="2980955"/>
            <a:ext cx="39692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rgbClr val="002060"/>
                </a:solidFill>
                <a:latin typeface="Arial Black" panose="020B0A04020102020204" pitchFamily="34" charset="0"/>
              </a:rPr>
              <a:t>Services</a:t>
            </a:r>
            <a:endParaRPr lang="en-IN" sz="600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5E3A3-F300-4B35-B4A2-302F2A186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695" y="98474"/>
            <a:ext cx="6114317" cy="658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1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95E23-7F47-4041-ACEE-6468298D70C6}"/>
              </a:ext>
            </a:extLst>
          </p:cNvPr>
          <p:cNvSpPr txBox="1"/>
          <p:nvPr/>
        </p:nvSpPr>
        <p:spPr>
          <a:xfrm flipH="1">
            <a:off x="836439" y="1874465"/>
            <a:ext cx="50016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600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022A-B6FC-4327-A944-D5545634B837}"/>
              </a:ext>
            </a:extLst>
          </p:cNvPr>
          <p:cNvSpPr txBox="1"/>
          <p:nvPr/>
        </p:nvSpPr>
        <p:spPr>
          <a:xfrm>
            <a:off x="1446771" y="2982461"/>
            <a:ext cx="37809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600" dirty="0">
              <a:latin typeface="Bahnschrift SemiBol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4657E-F864-468F-87CB-C1C8A8A31164}"/>
              </a:ext>
            </a:extLst>
          </p:cNvPr>
          <p:cNvSpPr txBox="1"/>
          <p:nvPr/>
        </p:nvSpPr>
        <p:spPr>
          <a:xfrm>
            <a:off x="786613" y="2722208"/>
            <a:ext cx="37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 Black" panose="020B0A04020102020204" pitchFamily="34" charset="0"/>
              </a:rPr>
              <a:t>Job Search Consultancy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B1D8FF-53AD-4F03-B98A-3B6C0EEBD3F2}"/>
              </a:ext>
            </a:extLst>
          </p:cNvPr>
          <p:cNvSpPr txBox="1"/>
          <p:nvPr/>
        </p:nvSpPr>
        <p:spPr>
          <a:xfrm>
            <a:off x="769245" y="3297253"/>
            <a:ext cx="37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 Black" panose="020B0A04020102020204" pitchFamily="34" charset="0"/>
              </a:rPr>
              <a:t>Job Search Consultancy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436B-7019-4DC1-8ACF-598413C4A5D2}"/>
              </a:ext>
            </a:extLst>
          </p:cNvPr>
          <p:cNvSpPr txBox="1"/>
          <p:nvPr/>
        </p:nvSpPr>
        <p:spPr>
          <a:xfrm>
            <a:off x="751877" y="3872298"/>
            <a:ext cx="37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 Black" panose="020B0A04020102020204" pitchFamily="34" charset="0"/>
              </a:rPr>
              <a:t>Job Search Consultancy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F713B-1390-49E0-9F83-2A775943F628}"/>
              </a:ext>
            </a:extLst>
          </p:cNvPr>
          <p:cNvSpPr txBox="1"/>
          <p:nvPr/>
        </p:nvSpPr>
        <p:spPr>
          <a:xfrm>
            <a:off x="836439" y="624312"/>
            <a:ext cx="9288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002060"/>
                </a:solidFill>
                <a:latin typeface="Arial Black" panose="020B0A04020102020204" pitchFamily="34" charset="0"/>
              </a:rPr>
              <a:t>Consultancy </a:t>
            </a:r>
            <a:r>
              <a:rPr lang="en-GB" sz="6000" dirty="0">
                <a:solidFill>
                  <a:srgbClr val="002060"/>
                </a:solidFill>
                <a:latin typeface="Arial Black" panose="020B0A04020102020204" pitchFamily="34" charset="0"/>
              </a:rPr>
              <a:t>Services</a:t>
            </a:r>
            <a:endParaRPr lang="en-IN" sz="60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I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51BFE0C-C826-449B-B01F-3BCD8E94F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7399" y="1874465"/>
            <a:ext cx="4462724" cy="44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4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6B022A-B6FC-4327-A944-D5545634B837}"/>
              </a:ext>
            </a:extLst>
          </p:cNvPr>
          <p:cNvSpPr txBox="1"/>
          <p:nvPr/>
        </p:nvSpPr>
        <p:spPr>
          <a:xfrm>
            <a:off x="1446771" y="2982461"/>
            <a:ext cx="37809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600" dirty="0">
              <a:latin typeface="Bahnschrift SemiBol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4657E-F864-468F-87CB-C1C8A8A31164}"/>
              </a:ext>
            </a:extLst>
          </p:cNvPr>
          <p:cNvSpPr txBox="1"/>
          <p:nvPr/>
        </p:nvSpPr>
        <p:spPr>
          <a:xfrm>
            <a:off x="563585" y="2431178"/>
            <a:ext cx="5695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GB" sz="2000" b="1" dirty="0"/>
              <a:t>What is a Job Consultancy Service?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B1D8FF-53AD-4F03-B98A-3B6C0EEBD3F2}"/>
              </a:ext>
            </a:extLst>
          </p:cNvPr>
          <p:cNvSpPr txBox="1"/>
          <p:nvPr/>
        </p:nvSpPr>
        <p:spPr>
          <a:xfrm>
            <a:off x="769245" y="3297253"/>
            <a:ext cx="37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436B-7019-4DC1-8ACF-598413C4A5D2}"/>
              </a:ext>
            </a:extLst>
          </p:cNvPr>
          <p:cNvSpPr txBox="1"/>
          <p:nvPr/>
        </p:nvSpPr>
        <p:spPr>
          <a:xfrm>
            <a:off x="751877" y="3872298"/>
            <a:ext cx="37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F713B-1390-49E0-9F83-2A775943F628}"/>
              </a:ext>
            </a:extLst>
          </p:cNvPr>
          <p:cNvSpPr txBox="1"/>
          <p:nvPr/>
        </p:nvSpPr>
        <p:spPr>
          <a:xfrm>
            <a:off x="563585" y="581803"/>
            <a:ext cx="110648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002060"/>
                </a:solidFill>
                <a:latin typeface="Arial Black" panose="020B0A04020102020204" pitchFamily="34" charset="0"/>
              </a:rPr>
              <a:t>Job Consultancy </a:t>
            </a:r>
            <a:r>
              <a:rPr lang="en-GB" sz="6000" dirty="0">
                <a:solidFill>
                  <a:srgbClr val="002060"/>
                </a:solidFill>
                <a:latin typeface="Arial Black" panose="020B0A04020102020204" pitchFamily="34" charset="0"/>
              </a:rPr>
              <a:t>Services</a:t>
            </a:r>
            <a:endParaRPr lang="en-IN" sz="60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I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51BFE0C-C826-449B-B01F-3BCD8E94F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7399" y="1874465"/>
            <a:ext cx="4462724" cy="4462724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E18D60D-7E16-45F7-8DFD-159CE548B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024" y="2939923"/>
            <a:ext cx="58520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Act as a bridge between employers &amp; job seekers.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Help companies find suitable candidates.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Assist individuals in securing jobs.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Analyze job requirements &amp; facilitate hiring. </a:t>
            </a:r>
          </a:p>
        </p:txBody>
      </p:sp>
    </p:spTree>
    <p:extLst>
      <p:ext uri="{BB962C8B-B14F-4D97-AF65-F5344CB8AC3E}">
        <p14:creationId xmlns:p14="http://schemas.microsoft.com/office/powerpoint/2010/main" val="190270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6B022A-B6FC-4327-A944-D5545634B837}"/>
              </a:ext>
            </a:extLst>
          </p:cNvPr>
          <p:cNvSpPr txBox="1"/>
          <p:nvPr/>
        </p:nvSpPr>
        <p:spPr>
          <a:xfrm>
            <a:off x="1446771" y="2982461"/>
            <a:ext cx="3780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Wingdings" panose="05000000000000000000" pitchFamily="2" charset="2"/>
              <a:buChar char="ü"/>
            </a:pPr>
            <a:endParaRPr lang="en-IN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F713B-1390-49E0-9F83-2A775943F628}"/>
              </a:ext>
            </a:extLst>
          </p:cNvPr>
          <p:cNvSpPr txBox="1"/>
          <p:nvPr/>
        </p:nvSpPr>
        <p:spPr>
          <a:xfrm>
            <a:off x="563585" y="581803"/>
            <a:ext cx="110648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002060"/>
                </a:solidFill>
                <a:latin typeface="Arial Black" panose="020B0A04020102020204" pitchFamily="34" charset="0"/>
              </a:rPr>
              <a:t>Job Consultancy </a:t>
            </a:r>
            <a:r>
              <a:rPr lang="en-GB" sz="6000" dirty="0">
                <a:solidFill>
                  <a:srgbClr val="002060"/>
                </a:solidFill>
                <a:latin typeface="Arial Black" panose="020B0A04020102020204" pitchFamily="34" charset="0"/>
              </a:rPr>
              <a:t>Services</a:t>
            </a:r>
            <a:endParaRPr lang="en-IN" sz="60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I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51BFE0C-C826-449B-B01F-3BCD8E94F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7399" y="1874465"/>
            <a:ext cx="4462724" cy="446272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D23FB5C-A1F1-4924-A631-3F99E8E844DA}"/>
              </a:ext>
            </a:extLst>
          </p:cNvPr>
          <p:cNvSpPr/>
          <p:nvPr/>
        </p:nvSpPr>
        <p:spPr>
          <a:xfrm>
            <a:off x="1089295" y="2409444"/>
            <a:ext cx="4839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b="1" dirty="0">
                <a:latin typeface="Arial Black" panose="020B0A04020102020204" pitchFamily="34" charset="0"/>
              </a:rPr>
              <a:t>Type Of Job Consultancy services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FEEF8E-AA6B-4217-ACA0-CE2A2EB3C23B}"/>
              </a:ext>
            </a:extLst>
          </p:cNvPr>
          <p:cNvSpPr txBox="1"/>
          <p:nvPr/>
        </p:nvSpPr>
        <p:spPr>
          <a:xfrm>
            <a:off x="1539130" y="2982461"/>
            <a:ext cx="44627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Contingency Recruitment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Retained Recruitment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Temporary (Contract) Staffing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Permanent Recruitment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Freelance &amp; Gig Economy Recruitment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International Recruitment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Executive Search (Headhunting)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721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6B022A-B6FC-4327-A944-D5545634B837}"/>
              </a:ext>
            </a:extLst>
          </p:cNvPr>
          <p:cNvSpPr txBox="1"/>
          <p:nvPr/>
        </p:nvSpPr>
        <p:spPr>
          <a:xfrm>
            <a:off x="1446771" y="2982461"/>
            <a:ext cx="37809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600" dirty="0">
              <a:latin typeface="Bahnschrift SemiBol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4657E-F864-468F-87CB-C1C8A8A31164}"/>
              </a:ext>
            </a:extLst>
          </p:cNvPr>
          <p:cNvSpPr txBox="1"/>
          <p:nvPr/>
        </p:nvSpPr>
        <p:spPr>
          <a:xfrm>
            <a:off x="853717" y="2636212"/>
            <a:ext cx="5242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Arial Black" panose="020B0A04020102020204" pitchFamily="34" charset="0"/>
              </a:rPr>
              <a:t>Importance in the Job Market</a:t>
            </a:r>
            <a:endParaRPr lang="en-GB" sz="2000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F713B-1390-49E0-9F83-2A775943F628}"/>
              </a:ext>
            </a:extLst>
          </p:cNvPr>
          <p:cNvSpPr txBox="1"/>
          <p:nvPr/>
        </p:nvSpPr>
        <p:spPr>
          <a:xfrm>
            <a:off x="563585" y="581803"/>
            <a:ext cx="110648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002060"/>
                </a:solidFill>
                <a:latin typeface="Arial Black" panose="020B0A04020102020204" pitchFamily="34" charset="0"/>
              </a:rPr>
              <a:t>Job Consultancy </a:t>
            </a:r>
            <a:r>
              <a:rPr lang="en-GB" sz="6000" dirty="0">
                <a:solidFill>
                  <a:srgbClr val="002060"/>
                </a:solidFill>
                <a:latin typeface="Arial Black" panose="020B0A04020102020204" pitchFamily="34" charset="0"/>
              </a:rPr>
              <a:t>Services</a:t>
            </a:r>
            <a:endParaRPr lang="en-IN" sz="60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I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51BFE0C-C826-449B-B01F-3BCD8E94F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7399" y="1874465"/>
            <a:ext cx="4462724" cy="4462724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B6F8EC8-465C-4EB9-97B7-0CCC89C68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7" y="3350919"/>
            <a:ext cx="59105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Streamlines the hiring process for companies.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Reduces recruitment time and costs.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Matches job seekers' skills with employer needs.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Enhances workforce efficiency and economic growth.</a:t>
            </a:r>
          </a:p>
        </p:txBody>
      </p:sp>
    </p:spTree>
    <p:extLst>
      <p:ext uri="{BB962C8B-B14F-4D97-AF65-F5344CB8AC3E}">
        <p14:creationId xmlns:p14="http://schemas.microsoft.com/office/powerpoint/2010/main" val="3457672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95E23-7F47-4041-ACEE-6468298D70C6}"/>
              </a:ext>
            </a:extLst>
          </p:cNvPr>
          <p:cNvSpPr txBox="1"/>
          <p:nvPr/>
        </p:nvSpPr>
        <p:spPr>
          <a:xfrm flipH="1">
            <a:off x="836439" y="1874465"/>
            <a:ext cx="50016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600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022A-B6FC-4327-A944-D5545634B837}"/>
              </a:ext>
            </a:extLst>
          </p:cNvPr>
          <p:cNvSpPr txBox="1"/>
          <p:nvPr/>
        </p:nvSpPr>
        <p:spPr>
          <a:xfrm>
            <a:off x="1446771" y="2982461"/>
            <a:ext cx="37809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600" dirty="0">
              <a:latin typeface="Bahnschrift SemiBol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4657E-F864-468F-87CB-C1C8A8A31164}"/>
              </a:ext>
            </a:extLst>
          </p:cNvPr>
          <p:cNvSpPr txBox="1"/>
          <p:nvPr/>
        </p:nvSpPr>
        <p:spPr>
          <a:xfrm>
            <a:off x="794236" y="2231915"/>
            <a:ext cx="6506896" cy="707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GB" sz="2000" b="1" dirty="0">
                <a:latin typeface="Arial Black" panose="020B0A04020102020204" pitchFamily="34" charset="0"/>
              </a:rPr>
              <a:t>Overview of the growing demand for recruitment services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436B-7019-4DC1-8ACF-598413C4A5D2}"/>
              </a:ext>
            </a:extLst>
          </p:cNvPr>
          <p:cNvSpPr txBox="1"/>
          <p:nvPr/>
        </p:nvSpPr>
        <p:spPr>
          <a:xfrm>
            <a:off x="977973" y="3167127"/>
            <a:ext cx="59862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Globalization &amp; digital transformation drive demand.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Industries like IT, healthcare, finance, and e-commerce need skilled professionals.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gig economy &amp; remote work increase specialized hiring needs.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AI-driven recruitment enhances candidate matching.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F713B-1390-49E0-9F83-2A775943F628}"/>
              </a:ext>
            </a:extLst>
          </p:cNvPr>
          <p:cNvSpPr txBox="1"/>
          <p:nvPr/>
        </p:nvSpPr>
        <p:spPr>
          <a:xfrm>
            <a:off x="563585" y="581803"/>
            <a:ext cx="110648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002060"/>
                </a:solidFill>
                <a:latin typeface="Arial Black" panose="020B0A04020102020204" pitchFamily="34" charset="0"/>
              </a:rPr>
              <a:t>Job Consultancy </a:t>
            </a:r>
            <a:r>
              <a:rPr lang="en-GB" sz="6000" dirty="0">
                <a:solidFill>
                  <a:srgbClr val="002060"/>
                </a:solidFill>
                <a:latin typeface="Arial Black" panose="020B0A04020102020204" pitchFamily="34" charset="0"/>
              </a:rPr>
              <a:t>Services</a:t>
            </a:r>
            <a:endParaRPr lang="en-IN" sz="60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I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51BFE0C-C826-449B-B01F-3BCD8E94F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7399" y="1874465"/>
            <a:ext cx="4462724" cy="44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9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6B022A-B6FC-4327-A944-D5545634B837}"/>
              </a:ext>
            </a:extLst>
          </p:cNvPr>
          <p:cNvSpPr txBox="1"/>
          <p:nvPr/>
        </p:nvSpPr>
        <p:spPr>
          <a:xfrm>
            <a:off x="1446771" y="2982461"/>
            <a:ext cx="37809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600" dirty="0">
              <a:latin typeface="Bahnschrift SemiBold" panose="020B0502040204020203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EA17C0-09DE-4F05-B71F-A40A0150B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73" y="3236719"/>
            <a:ext cx="7090403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Opportunities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Upskilling and reskilling initiatives to bridge skill gaps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Expanding talent pools through remote and global hiring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AI and data-driven recruitment for better candidate matching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Specialized recruitment services catering to niche industries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3C8A7-22C4-4599-AD0C-05BDE740A2A1}"/>
              </a:ext>
            </a:extLst>
          </p:cNvPr>
          <p:cNvSpPr txBox="1"/>
          <p:nvPr/>
        </p:nvSpPr>
        <p:spPr>
          <a:xfrm>
            <a:off x="743068" y="458441"/>
            <a:ext cx="10412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latin typeface="Arial Black" panose="020B0A04020102020204" pitchFamily="34" charset="0"/>
              </a:rPr>
              <a:t>Rising </a:t>
            </a:r>
            <a:r>
              <a:rPr lang="en-US" altLang="en-US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Employment</a:t>
            </a:r>
            <a:r>
              <a:rPr lang="en-US" altLang="en-US" sz="2800" b="1" dirty="0">
                <a:latin typeface="Arial Black" panose="020B0A04020102020204" pitchFamily="34" charset="0"/>
              </a:rPr>
              <a:t> Challenges and Opportunities</a:t>
            </a:r>
            <a:r>
              <a:rPr lang="en-US" altLang="en-US" sz="2800" dirty="0">
                <a:latin typeface="Arial Black" panose="020B0A04020102020204" pitchFamily="34" charset="0"/>
              </a:rPr>
              <a:t>: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66A87-917C-4831-A516-B781DED5B4B7}"/>
              </a:ext>
            </a:extLst>
          </p:cNvPr>
          <p:cNvSpPr txBox="1"/>
          <p:nvPr/>
        </p:nvSpPr>
        <p:spPr>
          <a:xfrm>
            <a:off x="743069" y="1485670"/>
            <a:ext cx="68820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 Black" panose="020B0A04020102020204" pitchFamily="34" charset="0"/>
              </a:rPr>
              <a:t>Challenges</a:t>
            </a:r>
            <a:r>
              <a:rPr lang="en-US" altLang="en-US" sz="2000" dirty="0">
                <a:latin typeface="Arial Black" panose="020B0A040201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 Black" panose="020B0A040201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Skill gaps and talent shortages in various industries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High employee turnover rates affecting business stability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Increased competition among job seekers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Challenges in remote work recruitment and onboarding</a:t>
            </a:r>
            <a:endParaRPr lang="en-IN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7A43A44-B61C-4050-BE96-79D06BE43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276" y="1638365"/>
            <a:ext cx="4462724" cy="44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7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95E23-7F47-4041-ACEE-6468298D70C6}"/>
              </a:ext>
            </a:extLst>
          </p:cNvPr>
          <p:cNvSpPr txBox="1"/>
          <p:nvPr/>
        </p:nvSpPr>
        <p:spPr>
          <a:xfrm flipH="1">
            <a:off x="563585" y="2004757"/>
            <a:ext cx="6807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GB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Breakdown by Industry</a:t>
            </a:r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</a:p>
          <a:p>
            <a:pPr lvl="1"/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(35%) , Healthcare (25%), </a:t>
            </a:r>
          </a:p>
          <a:p>
            <a:pPr lvl="1"/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Finance (20%) , Others (20%)</a:t>
            </a:r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lvl="1"/>
            <a:endParaRPr lang="en-GB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romanUcPeriod"/>
            </a:pPr>
            <a:r>
              <a:rPr lang="en-GB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Rise of AI-driven recruitment platforms</a:t>
            </a:r>
            <a:r>
              <a:rPr lang="en-GB" sz="20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(LinkedIn, Indeed, etc.).</a:t>
            </a:r>
          </a:p>
          <a:p>
            <a:pPr marL="514350" indent="-514350">
              <a:buFont typeface="+mj-lt"/>
              <a:buAutoNum type="romanUcPeriod"/>
            </a:pPr>
            <a:endParaRPr lang="en-GB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romanUcPeriod"/>
            </a:pPr>
            <a:r>
              <a:rPr lang="en-GB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Projected Growth:</a:t>
            </a:r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10% CAGR in recruitment services by 2030</a:t>
            </a:r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F713B-1390-49E0-9F83-2A775943F628}"/>
              </a:ext>
            </a:extLst>
          </p:cNvPr>
          <p:cNvSpPr txBox="1"/>
          <p:nvPr/>
        </p:nvSpPr>
        <p:spPr>
          <a:xfrm>
            <a:off x="619856" y="831823"/>
            <a:ext cx="11628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rgbClr val="002060"/>
                </a:solidFill>
                <a:latin typeface="Arial Black" panose="020B0A04020102020204" pitchFamily="34" charset="0"/>
              </a:rPr>
              <a:t>Market Share Of Recruitment Services</a:t>
            </a:r>
            <a:endParaRPr lang="en-IN" sz="4000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CBB40F4-40A7-4161-9198-63848A05D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5691" y="1722771"/>
            <a:ext cx="4462724" cy="44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0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CBB40F4-40A7-4161-9198-63848A05D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5691" y="1722771"/>
            <a:ext cx="4462724" cy="44627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E85BB-DE15-4C1F-937A-54BF04688749}"/>
              </a:ext>
            </a:extLst>
          </p:cNvPr>
          <p:cNvSpPr txBox="1"/>
          <p:nvPr/>
        </p:nvSpPr>
        <p:spPr>
          <a:xfrm>
            <a:off x="1108082" y="3184692"/>
            <a:ext cx="49879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Arial Black" panose="020B0A040201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Thank You ….. !</a:t>
            </a:r>
            <a:endParaRPr lang="en-IN" sz="4400" b="1" dirty="0">
              <a:latin typeface="Arial Black" panose="020B0A040201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7056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196</TotalTime>
  <Words>297</Words>
  <Application>Microsoft Office PowerPoint</Application>
  <PresentationFormat>Widescreen</PresentationFormat>
  <Paragraphs>62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 Unicode MS</vt:lpstr>
      <vt:lpstr>Arial</vt:lpstr>
      <vt:lpstr>Arial Black</vt:lpstr>
      <vt:lpstr>Bahnschrift SemiBold</vt:lpstr>
      <vt:lpstr>Calibri</vt:lpstr>
      <vt:lpstr>Century Gothic</vt:lpstr>
      <vt:lpstr>Garamond</vt:lpstr>
      <vt:lpstr>Wingdings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26</cp:revision>
  <dcterms:created xsi:type="dcterms:W3CDTF">2025-03-01T14:47:04Z</dcterms:created>
  <dcterms:modified xsi:type="dcterms:W3CDTF">2025-03-15T02:57:16Z</dcterms:modified>
</cp:coreProperties>
</file>